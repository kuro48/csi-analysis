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embeddings/data1.xlsx" ContentType="application/vnd.openxmlformats-officedocument.spreadsheetml.sheet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embeddings/data2.xlsx" ContentType="application/vnd.openxmlformats-officedocument.spreadsheetml.sheet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embeddings/data3.xlsx" ContentType="application/vnd.openxmlformats-officedocument.spreadsheetml.sheet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1001" r:id="rBriefSlide1"/>
    <p:sldId id="1002" r:id="rBriefSlide2"/>
    <p:sldId id="1003" r:id="rBriefSlide3"/>
    <p:sldId id="1004" r:id="rBriefSlide4"/>
    <p:sldId id="1005" r:id="rBriefSlide5"/>
    <p:sldId id="1006" r:id="rBriefSlide6"/>
    <p:sldId id="1007" r:id="rBriefSlide7"/>
    <p:sldId id="1008" r:id="rBriefSlide8"/>
    <p:sldId id="1009" r:id="rBriefSlide9"/>
    <p:sldId id="1010" r:id="rBriefSlide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77497"/>
  </p:normalViewPr>
  <p:slideViewPr>
    <p:cSldViewPr snapToGrid="0">
      <p:cViewPr varScale="1">
        <p:scale>
          <a:sx n="103" d="100"/>
          <a:sy n="103" d="100"/>
        </p:scale>
        <p:origin x="10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4" Type="http://schemas.openxmlformats.org/officeDocument/2006/relationships/theme" Target="theme/theme1.xml"/><Relationship Id="rBriefSlide1" Type="http://schemas.openxmlformats.org/officeDocument/2006/relationships/slide" Target="slides/slide1.xml"/><Relationship Id="rBriefSlide2" Type="http://schemas.openxmlformats.org/officeDocument/2006/relationships/slide" Target="slides/slide2.xml"/><Relationship Id="rBriefSlide3" Type="http://schemas.openxmlformats.org/officeDocument/2006/relationships/slide" Target="slides/slide3.xml"/><Relationship Id="rBriefSlide4" Type="http://schemas.openxmlformats.org/officeDocument/2006/relationships/slide" Target="slides/slide4.xml"/><Relationship Id="rBriefSlide5" Type="http://schemas.openxmlformats.org/officeDocument/2006/relationships/slide" Target="slides/slide5.xml"/><Relationship Id="rBriefSlide6" Type="http://schemas.openxmlformats.org/officeDocument/2006/relationships/slide" Target="slides/slide6.xml"/><Relationship Id="rBriefSlide7" Type="http://schemas.openxmlformats.org/officeDocument/2006/relationships/slide" Target="slides/slide7.xml"/><Relationship Id="rBriefSlide8" Type="http://schemas.openxmlformats.org/officeDocument/2006/relationships/slide" Target="slides/slide8.xml"/><Relationship Id="rBriefSlide9" Type="http://schemas.openxmlformats.org/officeDocument/2006/relationships/slide" Target="slides/slide9.xml"/><Relationship Id="rBriefSlide10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data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data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data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ja-JP"/>
  <c:chart>
    <c:autoTitleDeleted val="1"/>
    <c:plotArea>
      <c:layout/>
      <c:barChart>
        <c:barDir val="col"/>
        <c:grouping val="clustered"/>
        <c:ser>
          <c:idx val="0"/>
          <c:order val="0"/>
          <c:tx>
            <c:v>LSとの差</c:v>
          </c:tx>
          <c:spPr>
            <a:solidFill>
              <a:srgbClr val="256B90"/>
            </a:solidFill>
          </c:spPr>
          <c:cat>
            <c:strRef>
              <c:f>Data!$A$2:$A$5</c:f>
              <c:strCache>
                <c:ptCount val="4"/>
                <c:pt idx="0">
                  <c:v>K3 / R4 既定</c:v>
                </c:pt>
                <c:pt idx="1">
                  <c:v>K3 / R32 既定</c:v>
                </c:pt>
                <c:pt idx="2">
                  <c:v>K4 / R4</c:v>
                </c:pt>
                <c:pt idx="3">
                  <c:v>K3 / R4 中心変更</c:v>
                </c:pt>
              </c:strCache>
            </c:strRef>
          </c:cat>
          <c:val>
            <c:numRef>
              <c:f>Data!$B$2:$B$5</c:f>
              <c:numCache>
                <c:formatCode>General</c:formatCode>
                <c:ptCount val="4"/>
                <c:pt idx="0">
                  <c:v>10.6565625</c:v>
                </c:pt>
                <c:pt idx="1">
                  <c:v>11.145</c:v>
                </c:pt>
                <c:pt idx="2">
                  <c:v>1.108125</c:v>
                </c:pt>
                <c:pt idx="3">
                  <c:v>1.108125</c:v>
                </c:pt>
              </c:numCache>
            </c:numRef>
          </c:val>
        </c:ser>
        <c:dLbls>
          <c:numFmt formatCode="0.00" sourceLinked="0"/>
          <c:dLblPos val="outEnd"/>
          <c:showVal val="1"/>
        </c:dLbls>
        <c:gapWidth val="8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latin typeface="Noto Sans JP"/>
                <a:ea typeface="Noto Sans JP"/>
              </a:defRPr>
            </a:pPr>
            <a:endParaRPr lang="ja-JP"/>
          </a:p>
        </c:txPr>
        <c:crossAx val="20"/>
        <c:crosses val="autoZero"/>
        <c:auto val="1"/>
        <c:lblAlgn val="ctr"/>
        <c:lblOffset val="100"/>
      </c:catAx>
      <c:valAx>
        <c:axId val="20"/>
        <c:scaling>
          <c:orientation val="minMax"/>
          <c:max val="13"/>
          <c:min val="0"/>
        </c:scaling>
        <c:delete val="0"/>
        <c:axPos val="l"/>
        <c:majorGridlines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latin typeface="Noto Sans JP"/>
                <a:ea typeface="Noto Sans JP"/>
              </a:defRPr>
            </a:pPr>
            <a:endParaRPr lang="ja-JP"/>
          </a:p>
        </c:txPr>
        <c:crossAx val="10"/>
        <c:crosses val="autoZero"/>
        <c:crossBetween val="between"/>
        <c:majorUnit val="2"/>
      </c:valAx>
    </c:plotArea>
    <c:plotVisOnly val="1"/>
    <c:dispBlanksAs val="gap"/>
  </c:chart>
  <c:txPr>
    <a:bodyPr/>
    <a:lstStyle/>
    <a:p>
      <a:pPr>
        <a:defRPr sz="1200">
          <a:latin typeface="Noto Sans JP"/>
          <a:ea typeface="Noto Sans JP"/>
        </a:defRPr>
      </a:pPr>
      <a:endParaRPr lang="ja-JP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ja-JP"/>
  <c:chart>
    <c:autoTitleDeleted val="1"/>
    <c:plotArea>
      <c:layout/>
      <c:lineChart>
        <c:grouping val="standard"/>
        <c:ser>
          <c:idx val="0"/>
          <c:order val="0"/>
          <c:tx>
            <c:v>全tone参照との差</c:v>
          </c:tx>
          <c:spPr>
            <a:ln w="19050">
              <a:solidFill>
                <a:srgbClr val="256B90"/>
              </a:solidFill>
            </a:ln>
          </c:spPr>
          <c:marker>
            <c:symbol val="none"/>
          </c:marker>
          <c:cat>
            <c:strRef>
              <c:f>Data!$A$2:$A$7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Data!$B$2:$B$7</c:f>
              <c:numCache>
                <c:formatCode>General</c:formatCode>
                <c:ptCount val="6"/>
                <c:pt idx="0">
                  <c:v>3.5964566929133848</c:v>
                </c:pt>
                <c:pt idx="1">
                  <c:v>2.3976377952755894</c:v>
                </c:pt>
                <c:pt idx="2">
                  <c:v>3.3395669291338574</c:v>
                </c:pt>
                <c:pt idx="3">
                  <c:v>1.9694881889763771</c:v>
                </c:pt>
                <c:pt idx="4">
                  <c:v>2.9970472440944875</c:v>
                </c:pt>
                <c:pt idx="5">
                  <c:v>1.6269685039370079</c:v>
                </c:pt>
              </c:numCache>
            </c:numRef>
          </c:val>
          <c:smooth val="0"/>
        </c:ser>
        <c:dLbls>
          <c:numFmt formatCode="0.00" sourceLinked="0"/>
          <c:dLblPos val="t"/>
          <c:showVal val="1"/>
        </c:dLbls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latin typeface="Noto Sans JP"/>
                <a:ea typeface="Noto Sans JP"/>
              </a:defRPr>
            </a:pPr>
            <a:endParaRPr lang="ja-JP"/>
          </a:p>
        </c:txPr>
        <c:crossAx val="20"/>
        <c:crosses val="autoZero"/>
        <c:auto val="1"/>
        <c:lblAlgn val="ctr"/>
        <c:lblOffset val="100"/>
      </c:catAx>
      <c:valAx>
        <c:axId val="20"/>
        <c:scaling>
          <c:orientation val="minMax"/>
          <c:max val="4.2"/>
          <c:min val="0"/>
        </c:scaling>
        <c:delete val="0"/>
        <c:axPos val="l"/>
        <c:majorGridlines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latin typeface="Noto Sans JP"/>
                <a:ea typeface="Noto Sans JP"/>
              </a:defRPr>
            </a:pPr>
            <a:endParaRPr lang="ja-JP"/>
          </a:p>
        </c:txPr>
        <c:crossAx val="10"/>
        <c:crosses val="autoZero"/>
        <c:crossBetween val="between"/>
        <c:majorUnit val="1"/>
      </c:valAx>
    </c:plotArea>
    <c:plotVisOnly val="1"/>
    <c:dispBlanksAs val="gap"/>
  </c:chart>
  <c:txPr>
    <a:bodyPr/>
    <a:lstStyle/>
    <a:p>
      <a:pPr>
        <a:defRPr sz="1200">
          <a:latin typeface="Noto Sans JP"/>
          <a:ea typeface="Noto Sans JP"/>
        </a:defRPr>
      </a:pPr>
      <a:endParaRPr lang="ja-JP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ja-JP"/>
  <c:chart>
    <c:autoTitleDeleted val="1"/>
    <c:plotArea>
      <c:layout/>
      <c:barChart>
        <c:barDir val="col"/>
        <c:grouping val="clustered"/>
        <c:ser>
          <c:idx val="0"/>
          <c:order val="0"/>
          <c:tx>
            <c:v>証明時間中央値</c:v>
          </c:tx>
          <c:spPr>
            <a:solidFill>
              <a:srgbClr val="256B90"/>
            </a:solidFill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6"/>
                <c:pt idx="0">
                  <c:v>0.07055029199999296</c:v>
                </c:pt>
                <c:pt idx="1">
                  <c:v>0.06971974999993336</c:v>
                </c:pt>
                <c:pt idx="2">
                  <c:v>0.18823829099994782</c:v>
                </c:pt>
                <c:pt idx="3">
                  <c:v>0.45214045799997393</c:v>
                </c:pt>
                <c:pt idx="4">
                  <c:v>0.14216766600009123</c:v>
                </c:pt>
              </c:numLit>
            </c:plus>
            <c:minus>
              <c:numLit>
                <c:formatCode>General</c:formatCode>
                <c:ptCount val="6"/>
                <c:pt idx="0">
                  <c:v>0.06249850000000379</c:v>
                </c:pt>
                <c:pt idx="1">
                  <c:v>0.1474706660000038</c:v>
                </c:pt>
                <c:pt idx="2">
                  <c:v>0.005784959000038725</c:v>
                </c:pt>
                <c:pt idx="3">
                  <c:v>0.32907391599997027</c:v>
                </c:pt>
                <c:pt idx="4">
                  <c:v>0.0033465010000099937</c:v>
                </c:pt>
              </c:numLit>
            </c:minus>
          </c:errBars>
          <c:cat>
            <c:strRef>
              <c:f>Data!$A$2:$A$7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Data!$B$2:$B$7</c:f>
              <c:numCache>
                <c:formatCode>General</c:formatCode>
                <c:ptCount val="6"/>
                <c:pt idx="0">
                  <c:v>5.078544333000011</c:v>
                </c:pt>
                <c:pt idx="1">
                  <c:v>5.775659208000036</c:v>
                </c:pt>
                <c:pt idx="2">
                  <c:v>6.85162983400005</c:v>
                </c:pt>
                <c:pt idx="3">
                  <c:v>12.28147899999999</c:v>
                </c:pt>
                <c:pt idx="4">
                  <c:v>17.512748958999964</c:v>
                </c:pt>
              </c:numCache>
            </c:numRef>
          </c:val>
        </c:ser>
        <c:dLbls>
          <c:numFmt formatCode="0.00" sourceLinked="0"/>
          <c:dLblPos val="outEnd"/>
          <c:showVal val="1"/>
        </c:dLbls>
        <c:gapWidth val="80"/>
        <c:axId val="10"/>
        <c:axId val="20"/>
      </c:barChart>
      <c:catAx>
        <c:axId val="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latin typeface="Noto Sans JP"/>
                <a:ea typeface="Noto Sans JP"/>
              </a:defRPr>
            </a:pPr>
            <a:endParaRPr lang="ja-JP"/>
          </a:p>
        </c:txPr>
        <c:crossAx val="20"/>
        <c:crosses val="autoZero"/>
        <c:auto val="1"/>
        <c:lblAlgn val="ctr"/>
        <c:lblOffset val="100"/>
      </c:catAx>
      <c:valAx>
        <c:axId val="20"/>
        <c:scaling>
          <c:orientation val="minMax"/>
          <c:max val="22"/>
          <c:min val="0"/>
        </c:scaling>
        <c:delete val="0"/>
        <c:axPos val="l"/>
        <c:majorGridlines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latin typeface="Noto Sans JP"/>
                <a:ea typeface="Noto Sans JP"/>
              </a:defRPr>
            </a:pPr>
            <a:endParaRPr lang="ja-JP"/>
          </a:p>
        </c:txPr>
        <c:crossAx val="10"/>
        <c:crosses val="autoZero"/>
        <c:crossBetween val="between"/>
        <c:majorUnit val="5"/>
      </c:valAx>
    </c:plotArea>
    <c:plotVisOnly val="1"/>
    <c:dispBlanksAs val="gap"/>
  </c:chart>
  <c:txPr>
    <a:bodyPr/>
    <a:lstStyle/>
    <a:p>
      <a:pPr>
        <a:defRPr sz="1200">
          <a:latin typeface="Noto Sans JP"/>
          <a:ea typeface="Noto Sans JP"/>
        </a:defRPr>
      </a:pPr>
      <a:endParaRPr lang="ja-JP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454AC2-80F9-5641-A454-534ED815E733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F98B08-355C-1D49-9A12-DA7C6AA55F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603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B420-B2B1-1F4C-863C-DAD1C91FCF3B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8130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96F2-2FA2-AE43-9D15-CB6563773306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4856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E407-9275-9649-B461-5CA87C60F71A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21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3EABA-B1E3-754F-8355-8BD01EDF4F12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27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8E8D-F872-5848-BFDD-E1E330E7EBD1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09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F42D9-BC42-3640-99D4-2C6348DDA1FC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349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106D-F0F2-8A49-8AB6-0739D0DE79AD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060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83FF2-EC88-7B4F-AE95-2C6EDFF71408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27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38B9-93EF-B54D-90E5-715A56B99B02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402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F3A3-4B42-AC42-A764-1109CBA1F487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29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9E9A-3B02-CD49-85E7-ED22B6CDD84F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18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97512-A843-DE42-B2B5-FF897C6AFFA8}" type="datetime1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9EB3C-BE2B-074F-A817-A71F3A4BC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1250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rogress 1">
    <p:spTree>
      <p:nvGrpSpPr>
        <p:cNvPr id="1001" name=""/>
        <p:cNvGrpSpPr/>
        <p:nvPr/>
      </p:nvGrpSpPr>
      <p:grpSpPr/>
      <p:sp>
        <p:nvSpPr>
          <p:cNvPr id="1003" name="Text 3"/>
          <p:cNvSpPr txBox="1"/>
          <p:nvPr/>
        </p:nvSpPr>
        <p:spPr>
          <a:xfrm>
            <a:off x="3403600" y="2495296"/>
            <a:ext cx="5486400" cy="96393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4600" dirty="0">
                <a:solidFill>
                  <a:srgbClr val="222222"/>
                </a:solidFill>
                <a:latin typeface="Noto Sans JP Light"/>
                <a:ea typeface="Noto Sans JP Light"/>
              </a:rPr>
              <a:t>修士研究</a:t>
            </a:r>
          </a:p>
        </p:txBody>
      </p:sp>
      <p:sp>
        <p:nvSpPr>
          <p:cNvPr id="1004" name="Text 4"/>
          <p:cNvSpPr txBox="1"/>
          <p:nvPr/>
        </p:nvSpPr>
        <p:spPr>
          <a:xfrm>
            <a:off x="3873500" y="3446272"/>
            <a:ext cx="5016500" cy="46101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2200" dirty="0">
                <a:solidFill>
                  <a:srgbClr val="222222"/>
                </a:solidFill>
                <a:latin typeface="Noto Sans JP"/>
                <a:ea typeface="Noto Sans JP"/>
              </a:rPr>
              <a:t>黒川龍之介</a:t>
            </a:r>
          </a:p>
        </p:txBody>
      </p:sp>
      <p:sp>
        <p:nvSpPr>
          <p:cNvPr id="1005" name="Text 5"/>
          <p:cNvSpPr txBox="1"/>
          <p:nvPr/>
        </p:nvSpPr>
        <p:spPr>
          <a:xfrm>
            <a:off x="3863340" y="4041140"/>
            <a:ext cx="5026660" cy="314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500" dirty="0">
                <a:solidFill>
                  <a:srgbClr val="222222"/>
                </a:solidFill>
                <a:latin typeface="Noto Sans JP"/>
                <a:ea typeface="Noto Sans JP"/>
              </a:rPr>
              <a:t>2026年10月26日</a:t>
            </a:r>
          </a:p>
        </p:txBody>
      </p:sp>
      <p:sp>
        <p:nvSpPr>
          <p:cNvPr id="1006" name="Text 6"/>
          <p:cNvSpPr txBox="1"/>
          <p:nvPr/>
        </p:nvSpPr>
        <p:spPr>
          <a:xfrm>
            <a:off x="8343900" y="6450584"/>
            <a:ext cx="546100" cy="188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900" dirty="0">
                <a:solidFill>
                  <a:srgbClr val="777777"/>
                </a:solidFill>
                <a:latin typeface="Noto Sans JP"/>
                <a:ea typeface="Noto Sans JP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rogress 2">
    <p:spTree>
      <p:nvGrpSpPr>
        <p:cNvPr id="2001" name=""/>
        <p:cNvGrpSpPr/>
        <p:nvPr/>
      </p:nvGrpSpPr>
      <p:grpSpPr/>
      <p:sp>
        <p:nvSpPr>
          <p:cNvPr id="2003" name="Text 3"/>
          <p:cNvSpPr txBox="1"/>
          <p:nvPr/>
        </p:nvSpPr>
        <p:spPr>
          <a:xfrm>
            <a:off x="317500" y="522732"/>
            <a:ext cx="8572500" cy="670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3200" dirty="0">
                <a:solidFill>
                  <a:srgbClr val="222222"/>
                </a:solidFill>
                <a:latin typeface="Noto Sans JP Light"/>
                <a:ea typeface="Noto Sans JP Light"/>
              </a:rPr>
              <a:t>今週の作業</a:t>
            </a:r>
          </a:p>
        </p:txBody>
      </p:sp>
      <p:sp>
        <p:nvSpPr>
          <p:cNvPr id="2004" name="Text 4"/>
          <p:cNvSpPr txBox="1"/>
          <p:nvPr/>
        </p:nvSpPr>
        <p:spPr>
          <a:xfrm>
            <a:off x="317500" y="14061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2005" name="Text 5"/>
          <p:cNvSpPr txBox="1"/>
          <p:nvPr/>
        </p:nvSpPr>
        <p:spPr>
          <a:xfrm>
            <a:off x="571500" y="14061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VMDのモード数・反復数による変化を比較</a:t>
            </a:r>
          </a:p>
        </p:txBody>
      </p:sp>
      <p:sp>
        <p:nvSpPr>
          <p:cNvPr id="2006" name="Text 6"/>
          <p:cNvSpPr txBox="1"/>
          <p:nvPr/>
        </p:nvSpPr>
        <p:spPr>
          <a:xfrm>
            <a:off x="787400" y="1906016"/>
            <a:ext cx="8102600" cy="3352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600" dirty="0">
                <a:solidFill>
                  <a:srgbClr val="222222"/>
                </a:solidFill>
                <a:latin typeface="Noto Sans JP"/>
                <a:ea typeface="Noto Sans JP"/>
              </a:rPr>
              <a:t>モード数 1 / 2 / 3 / 4 / 5 / 8、反復数 1 / 2 / 4 / 8 / 16 / 32</a:t>
            </a:r>
          </a:p>
        </p:txBody>
      </p:sp>
      <p:sp>
        <p:nvSpPr>
          <p:cNvPr id="2007" name="Text 7"/>
          <p:cNvSpPr txBox="1"/>
          <p:nvPr/>
        </p:nvSpPr>
        <p:spPr>
          <a:xfrm>
            <a:off x="317500" y="26761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2008" name="Text 8"/>
          <p:cNvSpPr txBox="1"/>
          <p:nvPr/>
        </p:nvSpPr>
        <p:spPr>
          <a:xfrm>
            <a:off x="571500" y="26761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Lomb-Scargleのサブキャリア本数を比較</a:t>
            </a:r>
          </a:p>
        </p:txBody>
      </p:sp>
      <p:sp>
        <p:nvSpPr>
          <p:cNvPr id="2009" name="Text 9"/>
          <p:cNvSpPr txBox="1"/>
          <p:nvPr/>
        </p:nvSpPr>
        <p:spPr>
          <a:xfrm>
            <a:off x="787400" y="3161792"/>
            <a:ext cx="8102600" cy="35623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700" dirty="0">
                <a:solidFill>
                  <a:srgbClr val="222222"/>
                </a:solidFill>
                <a:latin typeface="Noto Sans JP"/>
                <a:ea typeface="Noto Sans JP"/>
              </a:rPr>
              <a:t>1 / 2 / 4 / 8 / 16 / 32本の推定値・証明生成時間</a:t>
            </a:r>
          </a:p>
        </p:txBody>
      </p:sp>
      <p:sp>
        <p:nvSpPr>
          <p:cNvPr id="2010" name="Text 10"/>
          <p:cNvSpPr txBox="1"/>
          <p:nvPr/>
        </p:nvSpPr>
        <p:spPr>
          <a:xfrm>
            <a:off x="317500" y="39461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2011" name="Text 11"/>
          <p:cNvSpPr txBox="1"/>
          <p:nvPr/>
        </p:nvSpPr>
        <p:spPr>
          <a:xfrm>
            <a:off x="571500" y="39461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回路の中間値を公開し、波形を可視化</a:t>
            </a:r>
          </a:p>
        </p:txBody>
      </p:sp>
      <p:sp>
        <p:nvSpPr>
          <p:cNvPr id="2012" name="Text 12"/>
          <p:cNvSpPr txBox="1"/>
          <p:nvPr/>
        </p:nvSpPr>
        <p:spPr>
          <a:xfrm>
            <a:off x="571500" y="50129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実データ8収録の冒頭48秒を使用</a:t>
            </a:r>
          </a:p>
        </p:txBody>
      </p:sp>
      <p:sp>
        <p:nvSpPr>
          <p:cNvPr id="2013" name="Text 13"/>
          <p:cNvSpPr txBox="1"/>
          <p:nvPr/>
        </p:nvSpPr>
        <p:spPr>
          <a:xfrm>
            <a:off x="571500" y="54574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正解呼吸数なし → 参照手法との一致度を評価</a:t>
            </a:r>
          </a:p>
        </p:txBody>
      </p:sp>
      <p:sp>
        <p:nvSpPr>
          <p:cNvPr id="2014" name="Text 14"/>
          <p:cNvSpPr txBox="1"/>
          <p:nvPr/>
        </p:nvSpPr>
        <p:spPr>
          <a:xfrm>
            <a:off x="381000" y="6130036"/>
            <a:ext cx="8509000" cy="2305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100" dirty="0">
                <a:solidFill>
                  <a:srgbClr val="666666"/>
                </a:solidFill>
                <a:latin typeface="Noto Sans JP"/>
                <a:ea typeface="Noto Sans JP"/>
              </a:rPr>
              <a:t>VMD：96点＋32点ゼロ埋め ／ LS：実時刻64点。前処理・探索帯域は異なる。</a:t>
            </a:r>
          </a:p>
        </p:txBody>
      </p:sp>
      <p:sp>
        <p:nvSpPr>
          <p:cNvPr id="2015" name="Text 15"/>
          <p:cNvSpPr txBox="1"/>
          <p:nvPr/>
        </p:nvSpPr>
        <p:spPr>
          <a:xfrm>
            <a:off x="8343900" y="6450584"/>
            <a:ext cx="546100" cy="188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900" dirty="0">
                <a:solidFill>
                  <a:srgbClr val="777777"/>
                </a:solidFill>
                <a:latin typeface="Noto Sans JP"/>
                <a:ea typeface="Noto Sans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rogress 3">
    <p:spTree>
      <p:nvGrpSpPr>
        <p:cNvPr id="3001" name=""/>
        <p:cNvGrpSpPr/>
        <p:nvPr/>
      </p:nvGrpSpPr>
      <p:grpSpPr/>
      <p:sp>
        <p:nvSpPr>
          <p:cNvPr id="3003" name="Text 3"/>
          <p:cNvSpPr txBox="1"/>
          <p:nvPr/>
        </p:nvSpPr>
        <p:spPr>
          <a:xfrm>
            <a:off x="317500" y="522732"/>
            <a:ext cx="8572500" cy="670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3200" dirty="0">
                <a:solidFill>
                  <a:srgbClr val="222222"/>
                </a:solidFill>
                <a:latin typeface="Noto Sans JP Light"/>
                <a:ea typeface="Noto Sans JP Light"/>
              </a:rPr>
              <a:t>VMDのモード数・反復数の比較</a:t>
            </a:r>
          </a:p>
        </p:txBody>
      </p:sp>
      <p:sp>
        <p:nvSpPr>
          <p:cNvPr id="3004" name="Text 4"/>
          <p:cNvSpPr txBox="1"/>
          <p:nvPr/>
        </p:nvSpPr>
        <p:spPr>
          <a:xfrm>
            <a:off x="317500" y="12791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3005" name="Text 5"/>
          <p:cNvSpPr txBox="1"/>
          <p:nvPr/>
        </p:nvSpPr>
        <p:spPr>
          <a:xfrm>
            <a:off x="571500" y="12791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既定の3モードでは、反復数を増やしても改善せず</a:t>
            </a:r>
          </a:p>
        </p:txBody>
      </p:sp>
      <p:pic>
        <p:nvPicPr>
          <p:cNvPr id="3006" name="vmd_sweep" descr="Scientific plot / source: research/2026-10-26/report/brief/vmd_sweep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76859" y="1905000"/>
            <a:ext cx="7990282" cy="4089400"/>
          </a:xfrm>
          <a:prstGeom prst="rect">
            <a:avLst/>
          </a:prstGeom>
        </p:spPr>
      </p:pic>
      <p:sp>
        <p:nvSpPr>
          <p:cNvPr id="3007" name="Text 7"/>
          <p:cNvSpPr txBox="1"/>
          <p:nvPr/>
        </p:nvSpPr>
        <p:spPr>
          <a:xfrm>
            <a:off x="381000" y="6130036"/>
            <a:ext cx="8509000" cy="2305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100" dirty="0">
                <a:solidFill>
                  <a:srgbClr val="666666"/>
                </a:solidFill>
                <a:latin typeface="Noto Sans JP"/>
                <a:ea typeface="Noto Sans JP"/>
              </a:rPr>
              <a:t>実8件・同一128点波形のLSとの差。36設定は整数参照、代表4構成×8件を実witness照合。</a:t>
            </a:r>
          </a:p>
        </p:txBody>
      </p:sp>
      <p:sp>
        <p:nvSpPr>
          <p:cNvPr id="3008" name="Text 8"/>
          <p:cNvSpPr txBox="1"/>
          <p:nvPr/>
        </p:nvSpPr>
        <p:spPr>
          <a:xfrm>
            <a:off x="8343900" y="6450584"/>
            <a:ext cx="546100" cy="188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900" dirty="0">
                <a:solidFill>
                  <a:srgbClr val="777777"/>
                </a:solidFill>
                <a:latin typeface="Noto Sans JP"/>
                <a:ea typeface="Noto Sans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rogress 4">
    <p:spTree>
      <p:nvGrpSpPr>
        <p:cNvPr id="4001" name=""/>
        <p:cNvGrpSpPr/>
        <p:nvPr/>
      </p:nvGrpSpPr>
      <p:grpSpPr/>
      <p:sp>
        <p:nvSpPr>
          <p:cNvPr id="4003" name="Text 3"/>
          <p:cNvSpPr txBox="1"/>
          <p:nvPr/>
        </p:nvSpPr>
        <p:spPr>
          <a:xfrm>
            <a:off x="317500" y="522732"/>
            <a:ext cx="8572500" cy="670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3200" dirty="0">
                <a:solidFill>
                  <a:srgbClr val="222222"/>
                </a:solidFill>
                <a:latin typeface="Noto Sans JP Light"/>
                <a:ea typeface="Noto Sans JP Light"/>
              </a:rPr>
              <a:t>VMDの初期中心の比較</a:t>
            </a:r>
          </a:p>
        </p:txBody>
      </p:sp>
      <p:sp>
        <p:nvSpPr>
          <p:cNvPr id="4004" name="Text 4"/>
          <p:cNvSpPr txBox="1"/>
          <p:nvPr/>
        </p:nvSpPr>
        <p:spPr>
          <a:xfrm>
            <a:off x="317500" y="12537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4005" name="Text 5"/>
          <p:cNvSpPr txBox="1"/>
          <p:nvPr/>
        </p:nvSpPr>
        <p:spPr>
          <a:xfrm>
            <a:off x="571500" y="12537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初期中心を [8,24,48] → [8,16,24] に変更</a:t>
            </a:r>
          </a:p>
        </p:txBody>
      </p:sp>
      <p:sp>
        <p:nvSpPr>
          <p:cNvPr id="4006" name="Text 6"/>
          <p:cNvSpPr txBox="1"/>
          <p:nvPr/>
        </p:nvSpPr>
        <p:spPr>
          <a:xfrm>
            <a:off x="317500" y="16474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4007" name="Text 7"/>
          <p:cNvSpPr txBox="1"/>
          <p:nvPr/>
        </p:nvSpPr>
        <p:spPr>
          <a:xfrm>
            <a:off x="571500" y="16474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3モード・4反復のまま、LSとの差が小さくなった</a:t>
            </a:r>
          </a:p>
        </p:txBody>
      </p:sp>
      <p:sp>
        <p:nvSpPr>
          <p:cNvPr id="4108" name="Text 108"/>
          <p:cNvSpPr txBox="1"/>
          <p:nvPr/>
        </p:nvSpPr>
        <p:spPr>
          <a:xfrm>
            <a:off x="854925" y="1917700"/>
            <a:ext cx="7434151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200" dirty="0">
                <a:solidFill>
                  <a:srgbClr val="222222"/>
                </a:solidFill>
                <a:latin typeface="Noto Sans JP"/>
                <a:ea typeface="Noto Sans JP"/>
              </a:rPr>
              <a:t>LS参照との差 (BPM)</a:t>
            </a:r>
          </a:p>
        </p:txBody>
      </p:sp>
      <p:graphicFrame>
        <p:nvGraphicFramePr>
          <p:cNvPr id="4008" name="Editable chart 1"/>
          <p:cNvGraphicFramePr/>
          <p:nvPr/>
        </p:nvGraphicFramePr>
        <p:xfrm>
          <a:off x="575525" y="2222500"/>
          <a:ext cx="7992951" cy="3365500"/>
        </p:xfrm>
        <a:graphic>
          <a:graphicData uri="http://schemas.openxmlformats.org/drawingml/2006/chart">
            <ns0:chart xmlns:ns0="http://schemas.openxmlformats.org/drawingml/2006/chart" r:id="rId2"/>
          </a:graphicData>
        </a:graphic>
      </p:graphicFrame>
      <p:sp>
        <p:nvSpPr>
          <p:cNvPr id="4009" name="Text 9"/>
          <p:cNvSpPr txBox="1"/>
          <p:nvPr/>
        </p:nvSpPr>
        <p:spPr>
          <a:xfrm>
            <a:off x="381000" y="6130036"/>
            <a:ext cx="8509000" cy="2305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100" dirty="0">
                <a:solidFill>
                  <a:srgbClr val="666666"/>
                </a:solidFill>
                <a:latin typeface="Noto Sans JP"/>
                <a:ea typeface="Noto Sans JP"/>
              </a:rPr>
              <a:t>初期中心変更は同じ340,734制約。正解誤差ではなく、別収録での検証が必要。</a:t>
            </a:r>
          </a:p>
        </p:txBody>
      </p:sp>
      <p:sp>
        <p:nvSpPr>
          <p:cNvPr id="4010" name="Text 10"/>
          <p:cNvSpPr txBox="1"/>
          <p:nvPr/>
        </p:nvSpPr>
        <p:spPr>
          <a:xfrm>
            <a:off x="8343900" y="6450584"/>
            <a:ext cx="546100" cy="188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900" dirty="0">
                <a:solidFill>
                  <a:srgbClr val="777777"/>
                </a:solidFill>
                <a:latin typeface="Noto Sans JP"/>
                <a:ea typeface="Noto Sans JP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rogress 5">
    <p:spTree>
      <p:nvGrpSpPr>
        <p:cNvPr id="5001" name=""/>
        <p:cNvGrpSpPr/>
        <p:nvPr/>
      </p:nvGrpSpPr>
      <p:grpSpPr/>
      <p:sp>
        <p:nvSpPr>
          <p:cNvPr id="5003" name="Text 3"/>
          <p:cNvSpPr txBox="1"/>
          <p:nvPr/>
        </p:nvSpPr>
        <p:spPr>
          <a:xfrm>
            <a:off x="317500" y="522732"/>
            <a:ext cx="8572500" cy="670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3200" dirty="0">
                <a:solidFill>
                  <a:srgbClr val="222222"/>
                </a:solidFill>
                <a:latin typeface="Noto Sans JP Light"/>
                <a:ea typeface="Noto Sans JP Light"/>
              </a:rPr>
              <a:t>Lomb-Scargleのサブキャリア数の比較</a:t>
            </a:r>
          </a:p>
        </p:txBody>
      </p:sp>
      <p:sp>
        <p:nvSpPr>
          <p:cNvPr id="5004" name="Text 4"/>
          <p:cNvSpPr txBox="1"/>
          <p:nvPr/>
        </p:nvSpPr>
        <p:spPr>
          <a:xfrm>
            <a:off x="317500" y="12664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5005" name="Text 5"/>
          <p:cNvSpPr txBox="1"/>
          <p:nvPr/>
        </p:nvSpPr>
        <p:spPr>
          <a:xfrm>
            <a:off x="571500" y="12664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本数を増やしても、参照値との差は一様に小さくならない</a:t>
            </a:r>
          </a:p>
        </p:txBody>
      </p:sp>
      <p:sp>
        <p:nvSpPr>
          <p:cNvPr id="5106" name="Text 106"/>
          <p:cNvSpPr txBox="1"/>
          <p:nvPr/>
        </p:nvSpPr>
        <p:spPr>
          <a:xfrm>
            <a:off x="762000" y="1638300"/>
            <a:ext cx="76200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200" dirty="0">
                <a:solidFill>
                  <a:srgbClr val="222222"/>
                </a:solidFill>
                <a:latin typeface="Noto Sans JP"/>
                <a:ea typeface="Noto Sans JP"/>
              </a:rPr>
              <a:t>全tone参照との差 (BPM)</a:t>
            </a:r>
          </a:p>
        </p:txBody>
      </p:sp>
      <p:sp>
        <p:nvSpPr>
          <p:cNvPr id="5107" name="Text 107"/>
          <p:cNvSpPr txBox="1"/>
          <p:nvPr/>
        </p:nvSpPr>
        <p:spPr>
          <a:xfrm>
            <a:off x="3873500" y="5542547"/>
            <a:ext cx="22860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200" dirty="0">
                <a:solidFill>
                  <a:srgbClr val="222222"/>
                </a:solidFill>
                <a:latin typeface="Noto Sans JP"/>
                <a:ea typeface="Noto Sans JP"/>
              </a:rPr>
              <a:t>サブキャリア本数</a:t>
            </a:r>
          </a:p>
        </p:txBody>
      </p:sp>
      <p:graphicFrame>
        <p:nvGraphicFramePr>
          <p:cNvPr id="5006" name="Editable chart 2"/>
          <p:cNvGraphicFramePr/>
          <p:nvPr/>
        </p:nvGraphicFramePr>
        <p:xfrm>
          <a:off x="482600" y="1943100"/>
          <a:ext cx="8178800" cy="3447047"/>
        </p:xfrm>
        <a:graphic>
          <a:graphicData uri="http://schemas.openxmlformats.org/drawingml/2006/chart">
            <ns0:chart xmlns:ns0="http://schemas.openxmlformats.org/drawingml/2006/chart" r:id="rId2"/>
          </a:graphicData>
        </a:graphic>
      </p:graphicFrame>
      <p:sp>
        <p:nvSpPr>
          <p:cNvPr id="5007" name="Text 7"/>
          <p:cNvSpPr txBox="1"/>
          <p:nvPr/>
        </p:nvSpPr>
        <p:spPr>
          <a:xfrm>
            <a:off x="381000" y="6130036"/>
            <a:ext cx="8509000" cy="2305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100" dirty="0">
                <a:solidFill>
                  <a:srgbClr val="666666"/>
                </a:solidFill>
                <a:latin typeface="Noto Sans JP"/>
                <a:ea typeface="Noto Sans JP"/>
              </a:rPr>
              <a:t>実8件・同じTx/Rx対の全tone LSが参照。同一SC集合の浮動LSと全48条件でbin・選択SCが一致。</a:t>
            </a:r>
          </a:p>
        </p:txBody>
      </p:sp>
      <p:sp>
        <p:nvSpPr>
          <p:cNvPr id="5008" name="Text 8"/>
          <p:cNvSpPr txBox="1"/>
          <p:nvPr/>
        </p:nvSpPr>
        <p:spPr>
          <a:xfrm>
            <a:off x="8343900" y="6450584"/>
            <a:ext cx="546100" cy="188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900" dirty="0">
                <a:solidFill>
                  <a:srgbClr val="777777"/>
                </a:solidFill>
                <a:latin typeface="Noto Sans JP"/>
                <a:ea typeface="Noto Sans JP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rogress 6">
    <p:spTree>
      <p:nvGrpSpPr>
        <p:cNvPr id="6001" name=""/>
        <p:cNvGrpSpPr/>
        <p:nvPr/>
      </p:nvGrpSpPr>
      <p:grpSpPr/>
      <p:sp>
        <p:nvSpPr>
          <p:cNvPr id="6003" name="Text 3"/>
          <p:cNvSpPr txBox="1"/>
          <p:nvPr/>
        </p:nvSpPr>
        <p:spPr>
          <a:xfrm>
            <a:off x="317500" y="522732"/>
            <a:ext cx="8572500" cy="670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3200" dirty="0">
                <a:solidFill>
                  <a:srgbClr val="222222"/>
                </a:solidFill>
                <a:latin typeface="Noto Sans JP Light"/>
                <a:ea typeface="Noto Sans JP Light"/>
              </a:rPr>
              <a:t>Lomb-Scargleの証明生成時間</a:t>
            </a:r>
          </a:p>
        </p:txBody>
      </p:sp>
      <p:sp>
        <p:nvSpPr>
          <p:cNvPr id="6004" name="Text 4"/>
          <p:cNvSpPr txBox="1"/>
          <p:nvPr/>
        </p:nvSpPr>
        <p:spPr>
          <a:xfrm>
            <a:off x="317500" y="12537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6005" name="Text 5"/>
          <p:cNvSpPr txBox="1"/>
          <p:nvPr/>
        </p:nvSpPr>
        <p:spPr>
          <a:xfrm>
            <a:off x="571500" y="12537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1〜16本の各3回、計15件の証明生成・検証が成功</a:t>
            </a:r>
          </a:p>
        </p:txBody>
      </p:sp>
      <p:sp>
        <p:nvSpPr>
          <p:cNvPr id="6106" name="Text 106"/>
          <p:cNvSpPr txBox="1"/>
          <p:nvPr/>
        </p:nvSpPr>
        <p:spPr>
          <a:xfrm>
            <a:off x="836287" y="1574800"/>
            <a:ext cx="7471426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200" dirty="0">
                <a:solidFill>
                  <a:srgbClr val="222222"/>
                </a:solidFill>
                <a:latin typeface="Noto Sans JP"/>
                <a:ea typeface="Noto Sans JP"/>
              </a:rPr>
              <a:t>証明生成時間 (秒)</a:t>
            </a:r>
          </a:p>
        </p:txBody>
      </p:sp>
      <p:sp>
        <p:nvSpPr>
          <p:cNvPr id="6107" name="Text 107"/>
          <p:cNvSpPr txBox="1"/>
          <p:nvPr/>
        </p:nvSpPr>
        <p:spPr>
          <a:xfrm>
            <a:off x="3873500" y="5410200"/>
            <a:ext cx="22860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200" dirty="0">
                <a:solidFill>
                  <a:srgbClr val="222222"/>
                </a:solidFill>
                <a:latin typeface="Noto Sans JP"/>
                <a:ea typeface="Noto Sans JP"/>
              </a:rPr>
              <a:t>サブキャリア本数</a:t>
            </a:r>
          </a:p>
        </p:txBody>
      </p:sp>
      <p:graphicFrame>
        <p:nvGraphicFramePr>
          <p:cNvPr id="6006" name="Editable chart 3"/>
          <p:cNvGraphicFramePr/>
          <p:nvPr/>
        </p:nvGraphicFramePr>
        <p:xfrm>
          <a:off x="556887" y="1879600"/>
          <a:ext cx="8030226" cy="3378200"/>
        </p:xfrm>
        <a:graphic>
          <a:graphicData uri="http://schemas.openxmlformats.org/drawingml/2006/chart">
            <ns0:chart xmlns:ns0="http://schemas.openxmlformats.org/drawingml/2006/chart" r:id="rId2"/>
          </a:graphicData>
        </a:graphic>
      </p:graphicFrame>
      <p:sp>
        <p:nvSpPr>
          <p:cNvPr id="6007" name="Text 7"/>
          <p:cNvSpPr txBox="1"/>
          <p:nvPr/>
        </p:nvSpPr>
        <p:spPr>
          <a:xfrm>
            <a:off x="533400" y="5730240"/>
            <a:ext cx="8356600" cy="314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500" dirty="0">
                <a:solidFill>
                  <a:srgbClr val="222222"/>
                </a:solidFill>
                <a:latin typeface="Noto Sans JP"/>
                <a:ea typeface="Noto Sans JP"/>
              </a:rPr>
              <a:t>32本：Node上限8 GiBでメモリ不足、12 GiBでも鍵生成30分で停止</a:t>
            </a:r>
          </a:p>
        </p:txBody>
      </p:sp>
      <p:sp>
        <p:nvSpPr>
          <p:cNvPr id="6008" name="Text 8"/>
          <p:cNvSpPr txBox="1"/>
          <p:nvPr/>
        </p:nvSpPr>
        <p:spPr>
          <a:xfrm>
            <a:off x="381000" y="6130036"/>
            <a:ext cx="8509000" cy="2305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100" dirty="0">
                <a:solidFill>
                  <a:srgbClr val="666666"/>
                </a:solidFill>
                <a:latin typeface="Noto Sans JP"/>
                <a:ea typeface="Noto Sans JP"/>
              </a:rPr>
              <a:t>Apple M4 Pro / RAM 24 GiB。3回の中央値。setup・witness・verifyは除く。</a:t>
            </a:r>
          </a:p>
        </p:txBody>
      </p:sp>
      <p:sp>
        <p:nvSpPr>
          <p:cNvPr id="6009" name="Text 9"/>
          <p:cNvSpPr txBox="1"/>
          <p:nvPr/>
        </p:nvSpPr>
        <p:spPr>
          <a:xfrm>
            <a:off x="8343900" y="6450584"/>
            <a:ext cx="546100" cy="188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900" dirty="0">
                <a:solidFill>
                  <a:srgbClr val="777777"/>
                </a:solidFill>
                <a:latin typeface="Noto Sans JP"/>
                <a:ea typeface="Noto Sans JP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rogress 7">
    <p:spTree>
      <p:nvGrpSpPr>
        <p:cNvPr id="7001" name=""/>
        <p:cNvGrpSpPr/>
        <p:nvPr/>
      </p:nvGrpSpPr>
      <p:grpSpPr/>
      <p:sp>
        <p:nvSpPr>
          <p:cNvPr id="7003" name="Text 3"/>
          <p:cNvSpPr txBox="1"/>
          <p:nvPr/>
        </p:nvSpPr>
        <p:spPr>
          <a:xfrm>
            <a:off x="317500" y="522732"/>
            <a:ext cx="8572500" cy="670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3200" dirty="0">
                <a:solidFill>
                  <a:srgbClr val="222222"/>
                </a:solidFill>
                <a:latin typeface="Noto Sans JP Light"/>
                <a:ea typeface="Noto Sans JP Light"/>
              </a:rPr>
              <a:t>処理ごとの中間値を公開出力へ追加</a:t>
            </a:r>
          </a:p>
        </p:txBody>
      </p:sp>
      <p:sp>
        <p:nvSpPr>
          <p:cNvPr id="7004" name="Text 4"/>
          <p:cNvSpPr txBox="1"/>
          <p:nvPr/>
        </p:nvSpPr>
        <p:spPr>
          <a:xfrm>
            <a:off x="317500" y="12537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7005" name="Text 5"/>
          <p:cNvSpPr txBox="1"/>
          <p:nvPr/>
        </p:nvSpPr>
        <p:spPr>
          <a:xfrm>
            <a:off x="571500" y="12537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VMD：入力・DFT・各反復のモード係数・中心</a:t>
            </a:r>
          </a:p>
        </p:txBody>
      </p:sp>
      <p:sp>
        <p:nvSpPr>
          <p:cNvPr id="7006" name="Text 6"/>
          <p:cNvSpPr txBox="1"/>
          <p:nvPr/>
        </p:nvSpPr>
        <p:spPr>
          <a:xfrm>
            <a:off x="317500" y="16728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7007" name="Text 7"/>
          <p:cNvSpPr txBox="1"/>
          <p:nvPr/>
        </p:nvSpPr>
        <p:spPr>
          <a:xfrm>
            <a:off x="571500" y="16728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LS：I/Q・振幅二乗・平均除去・射影・スコアの分子/分母</a:t>
            </a:r>
          </a:p>
        </p:txBody>
      </p:sp>
      <p:pic>
        <p:nvPicPr>
          <p:cNvPr id="7008" name="code_debug_vmd" descr="Scientific plot / source: research/2026-10-26/report/code_debug_vm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2324100"/>
            <a:ext cx="8001000" cy="3227070"/>
          </a:xfrm>
          <a:prstGeom prst="rect">
            <a:avLst/>
          </a:prstGeom>
        </p:spPr>
      </p:pic>
      <p:sp>
        <p:nvSpPr>
          <p:cNvPr id="7009" name="Text 9"/>
          <p:cNvSpPr txBox="1"/>
          <p:nvPr/>
        </p:nvSpPr>
        <p:spPr>
          <a:xfrm>
            <a:off x="381000" y="6130036"/>
            <a:ext cx="8509000" cy="2305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100" dirty="0">
                <a:solidFill>
                  <a:srgbClr val="666666"/>
                </a:solidFill>
                <a:latin typeface="Noto Sans JP"/>
                <a:ea typeface="Noto Sans JP"/>
              </a:rPr>
              <a:t>VMD回路の追加コード。入力情報を公開する診断専用回路として分離し、通常回路は未変更。</a:t>
            </a:r>
          </a:p>
        </p:txBody>
      </p:sp>
      <p:sp>
        <p:nvSpPr>
          <p:cNvPr id="7010" name="Text 10"/>
          <p:cNvSpPr txBox="1"/>
          <p:nvPr/>
        </p:nvSpPr>
        <p:spPr>
          <a:xfrm>
            <a:off x="8343900" y="6450584"/>
            <a:ext cx="546100" cy="188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900" dirty="0">
                <a:solidFill>
                  <a:srgbClr val="777777"/>
                </a:solidFill>
                <a:latin typeface="Noto Sans JP"/>
                <a:ea typeface="Noto Sans JP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rogress 8">
    <p:spTree>
      <p:nvGrpSpPr>
        <p:cNvPr id="8001" name=""/>
        <p:cNvGrpSpPr/>
        <p:nvPr/>
      </p:nvGrpSpPr>
      <p:grpSpPr/>
      <p:sp>
        <p:nvSpPr>
          <p:cNvPr id="8003" name="Text 3"/>
          <p:cNvSpPr txBox="1"/>
          <p:nvPr/>
        </p:nvSpPr>
        <p:spPr>
          <a:xfrm>
            <a:off x="317500" y="522732"/>
            <a:ext cx="8572500" cy="670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3200" dirty="0">
                <a:solidFill>
                  <a:srgbClr val="222222"/>
                </a:solidFill>
                <a:latin typeface="Noto Sans JP Light"/>
                <a:ea typeface="Noto Sans JP Light"/>
              </a:rPr>
              <a:t>VMDの反復ごとの波形</a:t>
            </a:r>
          </a:p>
        </p:txBody>
      </p:sp>
      <p:sp>
        <p:nvSpPr>
          <p:cNvPr id="8004" name="Text 4"/>
          <p:cNvSpPr txBox="1"/>
          <p:nvPr/>
        </p:nvSpPr>
        <p:spPr>
          <a:xfrm>
            <a:off x="317500" y="12537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8005" name="Text 5"/>
          <p:cNvSpPr txBox="1"/>
          <p:nvPr/>
        </p:nvSpPr>
        <p:spPr>
          <a:xfrm>
            <a:off x="571500" y="12537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各反復の公開係数からモード波形を表示</a:t>
            </a:r>
          </a:p>
        </p:txBody>
      </p:sp>
      <p:pic>
        <p:nvPicPr>
          <p:cNvPr id="8006" name="vmd_trace" descr="Scientific plot / source: research/2026-10-26/report/brief/vmd_trac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90687" y="1892300"/>
            <a:ext cx="7962626" cy="4013200"/>
          </a:xfrm>
          <a:prstGeom prst="rect">
            <a:avLst/>
          </a:prstGeom>
        </p:spPr>
      </p:pic>
      <p:sp>
        <p:nvSpPr>
          <p:cNvPr id="8007" name="Text 7"/>
          <p:cNvSpPr txBox="1"/>
          <p:nvPr/>
        </p:nvSpPr>
        <p:spPr>
          <a:xfrm>
            <a:off x="381000" y="6130036"/>
            <a:ext cx="8509000" cy="2305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100" dirty="0">
                <a:solidFill>
                  <a:srgbClr val="666666"/>
                </a:solidFill>
                <a:latin typeface="Noto Sans JP"/>
                <a:ea typeface="Noto Sans JP"/>
              </a:rPr>
              <a:t>例：csi_20260526_034004。逆DFTは回路外の表示変換。灰色部分は観測外のゼロ埋め区間。</a:t>
            </a:r>
          </a:p>
        </p:txBody>
      </p:sp>
      <p:sp>
        <p:nvSpPr>
          <p:cNvPr id="8008" name="Text 8"/>
          <p:cNvSpPr txBox="1"/>
          <p:nvPr/>
        </p:nvSpPr>
        <p:spPr>
          <a:xfrm>
            <a:off x="8343900" y="6450584"/>
            <a:ext cx="546100" cy="188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900" dirty="0">
                <a:solidFill>
                  <a:srgbClr val="777777"/>
                </a:solidFill>
                <a:latin typeface="Noto Sans JP"/>
                <a:ea typeface="Noto Sans JP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rogress 9">
    <p:spTree>
      <p:nvGrpSpPr>
        <p:cNvPr id="9001" name=""/>
        <p:cNvGrpSpPr/>
        <p:nvPr/>
      </p:nvGrpSpPr>
      <p:grpSpPr/>
      <p:sp>
        <p:nvSpPr>
          <p:cNvPr id="9003" name="Text 3"/>
          <p:cNvSpPr txBox="1"/>
          <p:nvPr/>
        </p:nvSpPr>
        <p:spPr>
          <a:xfrm>
            <a:off x="317500" y="522732"/>
            <a:ext cx="8572500" cy="670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3200" dirty="0">
                <a:solidFill>
                  <a:srgbClr val="222222"/>
                </a:solidFill>
                <a:latin typeface="Noto Sans JP Light"/>
                <a:ea typeface="Noto Sans JP Light"/>
              </a:rPr>
              <a:t>Lomb-Scargleの処理ごとの波形</a:t>
            </a:r>
          </a:p>
        </p:txBody>
      </p:sp>
      <p:sp>
        <p:nvSpPr>
          <p:cNvPr id="9004" name="Text 4"/>
          <p:cNvSpPr txBox="1"/>
          <p:nvPr/>
        </p:nvSpPr>
        <p:spPr>
          <a:xfrm>
            <a:off x="317500" y="12537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9005" name="Text 5"/>
          <p:cNvSpPr txBox="1"/>
          <p:nvPr/>
        </p:nvSpPr>
        <p:spPr>
          <a:xfrm>
            <a:off x="571500" y="12537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回路が選択したサブキャリアの処理を確認</a:t>
            </a:r>
          </a:p>
        </p:txBody>
      </p:sp>
      <p:pic>
        <p:nvPicPr>
          <p:cNvPr id="9006" name="ls_trace" descr="Scientific plot / source: research/2026-10-26/report/brief/ls_trac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87294" y="1866900"/>
            <a:ext cx="7569413" cy="4140200"/>
          </a:xfrm>
          <a:prstGeom prst="rect">
            <a:avLst/>
          </a:prstGeom>
        </p:spPr>
      </p:pic>
      <p:sp>
        <p:nvSpPr>
          <p:cNvPr id="9007" name="Text 7"/>
          <p:cNvSpPr txBox="1"/>
          <p:nvPr/>
        </p:nvSpPr>
        <p:spPr>
          <a:xfrm>
            <a:off x="381000" y="6130036"/>
            <a:ext cx="8509000" cy="2305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100" dirty="0">
                <a:solidFill>
                  <a:srgbClr val="666666"/>
                </a:solidFill>
                <a:latin typeface="Noto Sans JP"/>
                <a:ea typeface="Noto Sans JP"/>
              </a:rPr>
              <a:t>同じ収録・選択SC 7（元tone 32）。スコアは公開した分子÷分母を表示側で計算。</a:t>
            </a:r>
          </a:p>
        </p:txBody>
      </p:sp>
      <p:sp>
        <p:nvSpPr>
          <p:cNvPr id="9008" name="Text 8"/>
          <p:cNvSpPr txBox="1"/>
          <p:nvPr/>
        </p:nvSpPr>
        <p:spPr>
          <a:xfrm>
            <a:off x="8343900" y="6450584"/>
            <a:ext cx="546100" cy="188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900" dirty="0">
                <a:solidFill>
                  <a:srgbClr val="777777"/>
                </a:solidFill>
                <a:latin typeface="Noto Sans JP"/>
                <a:ea typeface="Noto Sans JP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Progress 10">
    <p:spTree>
      <p:nvGrpSpPr>
        <p:cNvPr id="10001" name=""/>
        <p:cNvGrpSpPr/>
        <p:nvPr/>
      </p:nvGrpSpPr>
      <p:grpSpPr/>
      <p:sp>
        <p:nvSpPr>
          <p:cNvPr id="10003" name="Text 3"/>
          <p:cNvSpPr txBox="1"/>
          <p:nvPr/>
        </p:nvSpPr>
        <p:spPr>
          <a:xfrm>
            <a:off x="317500" y="522732"/>
            <a:ext cx="8572500" cy="670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3200" dirty="0">
                <a:solidFill>
                  <a:srgbClr val="222222"/>
                </a:solidFill>
                <a:latin typeface="Noto Sans JP Light"/>
                <a:ea typeface="Noto Sans JP Light"/>
              </a:rPr>
              <a:t>証明生成の状況と今後</a:t>
            </a:r>
          </a:p>
        </p:txBody>
      </p:sp>
      <p:sp>
        <p:nvSpPr>
          <p:cNvPr id="10004" name="Text 4"/>
          <p:cNvSpPr txBox="1"/>
          <p:nvPr/>
        </p:nvSpPr>
        <p:spPr>
          <a:xfrm>
            <a:off x="317500" y="13045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10005" name="Text 5"/>
          <p:cNvSpPr txBox="1"/>
          <p:nvPr/>
        </p:nvSpPr>
        <p:spPr>
          <a:xfrm>
            <a:off x="571500" y="13045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中間値を公開する両診断回路の証明・検証が成功</a:t>
            </a:r>
          </a:p>
        </p:txBody>
      </p:sp>
      <p:sp>
        <p:nvSpPr>
          <p:cNvPr id="10006" name="Text 6"/>
          <p:cNvSpPr txBox="1"/>
          <p:nvPr/>
        </p:nvSpPr>
        <p:spPr>
          <a:xfrm>
            <a:off x="787400" y="1775968"/>
            <a:ext cx="8102600" cy="37719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800" dirty="0">
                <a:solidFill>
                  <a:srgbClr val="222222"/>
                </a:solidFill>
                <a:latin typeface="Noto Sans JP"/>
                <a:ea typeface="Noto Sans JP"/>
              </a:rPr>
              <a:t>VMD：3モード・4反復 ／ LS：8本（各1収録）</a:t>
            </a:r>
          </a:p>
        </p:txBody>
      </p:sp>
      <p:sp>
        <p:nvSpPr>
          <p:cNvPr id="10007" name="Text 7"/>
          <p:cNvSpPr txBox="1"/>
          <p:nvPr/>
        </p:nvSpPr>
        <p:spPr>
          <a:xfrm>
            <a:off x="787400" y="2220468"/>
            <a:ext cx="8102600" cy="37719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800" dirty="0">
                <a:solidFill>
                  <a:srgbClr val="222222"/>
                </a:solidFill>
                <a:latin typeface="Noto Sans JP"/>
                <a:ea typeface="Noto Sans JP"/>
              </a:rPr>
              <a:t>公開中間値を1つ変更すると、同じ証明は検証で拒否</a:t>
            </a:r>
          </a:p>
        </p:txBody>
      </p:sp>
      <p:sp>
        <p:nvSpPr>
          <p:cNvPr id="10008" name="Text 8"/>
          <p:cNvSpPr txBox="1"/>
          <p:nvPr/>
        </p:nvSpPr>
        <p:spPr>
          <a:xfrm>
            <a:off x="317500" y="30190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10009" name="Text 9"/>
          <p:cNvSpPr txBox="1"/>
          <p:nvPr/>
        </p:nvSpPr>
        <p:spPr>
          <a:xfrm>
            <a:off x="571500" y="30190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通常VMDの比較はwitness照合まで</a:t>
            </a:r>
          </a:p>
        </p:txBody>
      </p:sp>
      <p:sp>
        <p:nvSpPr>
          <p:cNvPr id="10010" name="Text 10"/>
          <p:cNvSpPr txBox="1"/>
          <p:nvPr/>
        </p:nvSpPr>
        <p:spPr>
          <a:xfrm>
            <a:off x="787400" y="3490468"/>
            <a:ext cx="8102600" cy="37719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800" dirty="0">
                <a:solidFill>
                  <a:srgbClr val="222222"/>
                </a:solidFill>
                <a:latin typeface="Noto Sans JP"/>
                <a:ea typeface="Noto Sans JP"/>
              </a:rPr>
              <a:t>全36設定のGroth16証明は未生成</a:t>
            </a:r>
          </a:p>
        </p:txBody>
      </p:sp>
      <p:sp>
        <p:nvSpPr>
          <p:cNvPr id="10011" name="Text 11"/>
          <p:cNvSpPr txBox="1"/>
          <p:nvPr/>
        </p:nvSpPr>
        <p:spPr>
          <a:xfrm>
            <a:off x="317500" y="4289044"/>
            <a:ext cx="8572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•</a:t>
            </a:r>
          </a:p>
        </p:txBody>
      </p:sp>
      <p:sp>
        <p:nvSpPr>
          <p:cNvPr id="10012" name="Text 12"/>
          <p:cNvSpPr txBox="1"/>
          <p:nvPr/>
        </p:nvSpPr>
        <p:spPr>
          <a:xfrm>
            <a:off x="571500" y="4289044"/>
            <a:ext cx="8318500" cy="398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900" dirty="0">
                <a:solidFill>
                  <a:srgbClr val="222222"/>
                </a:solidFill>
                <a:latin typeface="Noto Sans JP"/>
                <a:ea typeface="Noto Sans JP"/>
              </a:rPr>
              <a:t>今後</a:t>
            </a:r>
          </a:p>
        </p:txBody>
      </p:sp>
      <p:sp>
        <p:nvSpPr>
          <p:cNvPr id="10013" name="Text 13"/>
          <p:cNvSpPr txBox="1"/>
          <p:nvPr/>
        </p:nvSpPr>
        <p:spPr>
          <a:xfrm>
            <a:off x="787400" y="4760468"/>
            <a:ext cx="8102600" cy="37719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800" dirty="0">
                <a:solidFill>
                  <a:srgbClr val="222222"/>
                </a:solidFill>
                <a:latin typeface="Noto Sans JP"/>
                <a:ea typeface="Noto Sans JP"/>
              </a:rPr>
              <a:t>正解付き・未使用の収録で初期中心候補を評価</a:t>
            </a:r>
          </a:p>
        </p:txBody>
      </p:sp>
      <p:sp>
        <p:nvSpPr>
          <p:cNvPr id="10014" name="Text 14"/>
          <p:cNvSpPr txBox="1"/>
          <p:nvPr/>
        </p:nvSpPr>
        <p:spPr>
          <a:xfrm>
            <a:off x="787400" y="5204968"/>
            <a:ext cx="8102600" cy="37719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800" dirty="0">
                <a:solidFill>
                  <a:srgbClr val="222222"/>
                </a:solidFill>
                <a:latin typeface="Noto Sans JP"/>
                <a:ea typeface="Noto Sans JP"/>
              </a:rPr>
              <a:t>32本の鍵生成条件を見直し、エッジ実機でも計時</a:t>
            </a:r>
          </a:p>
        </p:txBody>
      </p:sp>
      <p:sp>
        <p:nvSpPr>
          <p:cNvPr id="10015" name="Text 15"/>
          <p:cNvSpPr txBox="1"/>
          <p:nvPr/>
        </p:nvSpPr>
        <p:spPr>
          <a:xfrm>
            <a:off x="381000" y="6130036"/>
            <a:ext cx="8509000" cy="2305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1100" dirty="0">
                <a:solidFill>
                  <a:srgbClr val="666666"/>
                </a:solidFill>
                <a:latin typeface="Noto Sans JP"/>
                <a:ea typeface="Noto Sans JP"/>
              </a:rPr>
              <a:t>今回の通常LS 15件＋診断2件＝計17件の証明を生成・検証済み。</a:t>
            </a:r>
          </a:p>
        </p:txBody>
      </p:sp>
      <p:sp>
        <p:nvSpPr>
          <p:cNvPr id="10016" name="Text 16"/>
          <p:cNvSpPr txBox="1"/>
          <p:nvPr/>
        </p:nvSpPr>
        <p:spPr>
          <a:xfrm>
            <a:off x="8343900" y="6450584"/>
            <a:ext cx="546100" cy="188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buNone/>
            </a:pPr>
            <a:r>
              <a:rPr lang="ja-JP" sz="900" dirty="0">
                <a:solidFill>
                  <a:srgbClr val="777777"/>
                </a:solidFill>
                <a:latin typeface="Noto Sans JP"/>
                <a:ea typeface="Noto Sans JP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77120</TotalTime>
  <Words>321</Words>
  <Application>Microsoft Macintosh PowerPoint</Application>
  <PresentationFormat>On-screen Show (4:3)</PresentationFormat>
  <Paragraphs>73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YakuHanJPs</vt:lpstr>
      <vt:lpstr>游ゴシック</vt:lpstr>
      <vt:lpstr>Arial</vt:lpstr>
      <vt:lpstr>Calibri</vt:lpstr>
      <vt:lpstr>Calibri Light</vt:lpstr>
      <vt:lpstr>Office テーマ</vt:lpstr>
      <vt:lpstr>修士研究4</vt:lpstr>
      <vt:lpstr>今週の作業</vt:lpstr>
      <vt:lpstr>エッジデバイス用の証明生成回路作成</vt:lpstr>
      <vt:lpstr>エッジデバイス用の証明生成回路作成</vt:lpstr>
      <vt:lpstr>エッジデバイスの環境構築</vt:lpstr>
      <vt:lpstr>エッジデバイスの環境構築</vt:lpstr>
      <vt:lpstr>エッジデバイスでの証明生成</vt:lpstr>
      <vt:lpstr>エッジデバイスでの証明生成</vt:lpstr>
      <vt:lpstr>今後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2026年10月26日 進捗報告</dc:title>
  <dc:creator>黒川 龍之介(is0557hr)</dc:creator>
  <cp:lastModifiedBy>黒川 龍之介(is0557hr)</cp:lastModifiedBy>
  <cp:revision>276</cp:revision>
  <dcterms:created xsi:type="dcterms:W3CDTF">2023-09-25T22:53:37Z</dcterms:created>
  <dcterms:modified xsi:type="dcterms:W3CDTF">2026-10-19T05:20:27Z</dcterms:modified>
</cp:coreProperties>
</file>